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00000" y="2200000"/>
            <a:ext cx="10392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400" b="1">
                <a:solidFill>
                  <a:srgbClr val="1B3A6B"/>
                </a:solidFill>
              </a:rPr>
              <a:t>Khonsu: Scaling Cooperative Prediction Across Edge Locales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00000" y="3400000"/>
            <a:ext cx="10392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6E6E6E"/>
                </a:solidFill>
              </a:rPr>
              <a:t>Research questions and evaluation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4300000"/>
            <a:ext cx="1039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B3A369"/>
                </a:solidFill>
              </a:rPr>
              <a:t>Status labels on evidence slides:  Done  /  Provisional  /  Running  /  Needed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Conductor solved one locale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50000"/>
            <a:ext cx="109728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One shared cooperative-prediction service per road region: fusion, tracking, trajectory prediction.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Admission control and prediction scheduling keep it inside the 300 ms deadline up to 31 CAVs.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Accepted at SEC 2026.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Bottom line: we know how to operate one locale.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Landle et al., Scalable Edge-assisted Fusion and Path Prediction for Connected Autonomous Vehicles, SEC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The next problem is metropolitan scale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00000"/>
            <a:ext cx="109728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One locale has finite spatial extent.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City coverage therefore needs many locales.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Vehicles and tracked actors cross between them continually.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450000"/>
            <a:ext cx="10972800" cy="900000"/>
          </a:xfrm>
          <a:prstGeom prst="roundRect">
            <a:avLst/>
          </a:prstGeom>
          <a:solidFill>
            <a:srgbClr val="E1E8F5"/>
          </a:solidFill>
          <a:ln w="1587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B3A6B"/>
                </a:solidFill>
              </a:rPr>
              <a:t>Main question: how do we extend edge-hosted cooperative prediction from one locale to a metropolitan deployment while preserving planner safety?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550000"/>
            <a:ext cx="109728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212121"/>
                </a:solidFill>
              </a:rPr>
              <a:t>RQ1  Scale-out: how should cooperative prediction be partitioned across locales, and what limits the region one locale can serve?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12121"/>
                </a:solidFill>
              </a:rPr>
              <a:t>RQ2  State continuity: when actors move between locales, what state must follow them to preserve prediction quality?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12121"/>
                </a:solidFill>
              </a:rPr>
              <a:t>RQ3  Safe handoff: what handoff timing and mechanism keep predictions inside the maneuver-specific safe-age envelope?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12121"/>
                </a:solidFill>
              </a:rPr>
              <a:t>RQ4  Multi-locale operation: can the design sustain repeated and concurrent handoffs across a realistic corridor?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Khonsu is the answer that falls out of RQ2 and RQ3; RQ4 tests it as a system.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RQ1: one locale has a finite region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50000"/>
            <a:ext cx="109728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BEV fusion cost grows with canvas area.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At 8 contributors, fusion exceeds its 130 ms allocation between 282 and 400 m.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Memory is not the limit: 6.8 GB of 16 GB at 563 m.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For our hardware and fusion stack, the practical locale size is about 300 m.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2900000"/>
            <a:ext cx="7312500" cy="325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Evidence: canvas latency sweep on the edge GPU  ·  Caveat: the number is architecture-specific; the existence of a cap is general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RQ1: what a multi-locale deployment looks like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50000"/>
            <a:ext cx="109728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Fixed conflict points, intersections and merges, are the natural locale anchors.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Boundaries necessarily fall on the roads connecting them.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A vehicle crosses a boundary every 20 to 30 seconds of urban driving.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Handoffs are the steady-state workload of the deployment.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900000"/>
            <a:ext cx="3629166" cy="32500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2900000"/>
            <a:ext cx="4733696" cy="325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Evidence: partition of a CARLA town under the measured cap  ·  Missing: sizing study on measured density traces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Partitioning creates a new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00000"/>
            <a:ext cx="109728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Conflicts do not respect the partition: queue tails, stopped vehicles, overtakes, lane changes form between intersections.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The service is stateful: the tracker and predictor condition on observations accumulated before the crossing.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2500000"/>
            <a:ext cx="3400000" cy="2300000"/>
          </a:xfrm>
          <a:prstGeom prst="rect">
            <a:avLst/>
          </a:prstGeom>
          <a:solidFill>
            <a:srgbClr val="E1E8F5"/>
          </a:solidFill>
          <a:ln w="15875">
            <a:solidFill>
              <a:srgbClr val="1B3A6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0000" y="2540000"/>
            <a:ext cx="18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B3A6B"/>
                </a:solidFill>
              </a:rPr>
              <a:t>Locale A</a:t>
            </a:r>
          </a:p>
        </p:txBody>
      </p:sp>
      <p:sp>
        <p:nvSpPr>
          <p:cNvPr id="6" name="Rectangle 5"/>
          <p:cNvSpPr/>
          <p:nvPr/>
        </p:nvSpPr>
        <p:spPr>
          <a:xfrm>
            <a:off x="2200000" y="2750000"/>
            <a:ext cx="400000" cy="4000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RSU</a:t>
            </a:r>
          </a:p>
        </p:txBody>
      </p:sp>
      <p:sp>
        <p:nvSpPr>
          <p:cNvPr id="7" name="Rectangle 6"/>
          <p:cNvSpPr/>
          <p:nvPr/>
        </p:nvSpPr>
        <p:spPr>
          <a:xfrm>
            <a:off x="4350000" y="2500000"/>
            <a:ext cx="3400000" cy="2300000"/>
          </a:xfrm>
          <a:prstGeom prst="rect">
            <a:avLst/>
          </a:prstGeom>
          <a:solidFill>
            <a:srgbClr val="FCECD6"/>
          </a:solidFill>
          <a:ln w="15875">
            <a:solidFill>
              <a:srgbClr val="CC781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0000" y="2540000"/>
            <a:ext cx="18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CC7814"/>
                </a:solidFill>
              </a:rPr>
              <a:t>Locale B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0000" y="2750000"/>
            <a:ext cx="400000" cy="4000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RSU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0" y="2500000"/>
            <a:ext cx="3400000" cy="2300000"/>
          </a:xfrm>
          <a:prstGeom prst="rect">
            <a:avLst/>
          </a:prstGeom>
          <a:solidFill>
            <a:srgbClr val="E1E8F5"/>
          </a:solidFill>
          <a:ln w="15875">
            <a:solidFill>
              <a:srgbClr val="1B3A6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80000" y="2540000"/>
            <a:ext cx="18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B3A6B"/>
                </a:solidFill>
              </a:rPr>
              <a:t>Locale 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500000" y="2750000"/>
            <a:ext cx="400000" cy="4000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RSU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0000" y="3750000"/>
            <a:ext cx="10400000" cy="380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25000" y="2400000"/>
            <a:ext cx="20000" cy="250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75000" y="2400000"/>
            <a:ext cx="20000" cy="250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200000" y="3890000"/>
            <a:ext cx="110000" cy="110000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500000" y="3890000"/>
            <a:ext cx="110000" cy="110000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800000" y="3890000"/>
            <a:ext cx="110000" cy="110000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100000" y="3890000"/>
            <a:ext cx="110000" cy="110000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400000" y="3890000"/>
            <a:ext cx="110000" cy="110000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50000" y="3830000"/>
            <a:ext cx="320000" cy="230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0000" y="4200000"/>
            <a:ext cx="30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1B3A6B"/>
                </a:solidFill>
              </a:rPr>
              <a:t>observation history accumulates in 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00000" y="3830000"/>
            <a:ext cx="320000" cy="230000"/>
          </a:xfrm>
          <a:prstGeom prst="rect">
            <a:avLst/>
          </a:prstGeom>
          <a:solidFill>
            <a:srgbClr val="CC7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v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50000" y="3780000"/>
            <a:ext cx="420000" cy="330000"/>
          </a:xfrm>
          <a:prstGeom prst="rect">
            <a:avLst/>
          </a:prstGeom>
          <a:noFill/>
          <a:ln w="158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50000" y="4200000"/>
            <a:ext cx="33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C0392B"/>
                </a:solidFill>
              </a:rPr>
              <a:t>decision in B, on the segment between anchors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00000" y="4200000"/>
            <a:ext cx="30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6E6E6E"/>
                </a:solidFill>
              </a:rPr>
              <a:t>same again at the next 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The boundary separates the observations that establish an actor's motion from the decision that consumes them.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RQ2: what state must survive a crossing?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50000"/>
            <a:ext cx="109728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Real motion includes acceleration, braking, turning. Constant-velocity Kalman tracking degrades there.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Our 3D adaptation of MambaTrack gains its accuracy from a history of K observations.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Once the service is partitioned, that history becomes cross-locale service state.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One frame is indistinguishable from cold start; the history reduces post-handoff error by a factor of 2.8 to 9.3.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2900000"/>
            <a:ext cx="5190647" cy="325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Evidence: forced-handoff microbenchmark, four maneuvers  ·  Claim scope: first SSM 3D tracker inside a distributed cooperative-prediction pipeline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RQ2: a Kalman snapshot is insufficient under acceleration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50000"/>
            <a:ext cx="109728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Oncoming actor accelerates through the conflict.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Kalman snapshot: 4 of 4 runs collide.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Temporal history: 3 of 4 runs complete without collision.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The difference comes from motion history, not transfer size.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2900000"/>
            <a:ext cx="8778240" cy="30389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Evidence: closed-loop acceleration experiment, 4 seeds, validated scenario  ·  Missing: post-handoff minADE and minFDE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Safety condition: the maneuver-specific safe-age envelope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Needed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50000"/>
            <a:ext cx="109728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Correct state eventually becomes too old to act on.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The usable age depends on maneuver urgency, not one universal latency number.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Our earlier single-locale experiments (not yet accepted) put the limits near 220 to 450 ms.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Khonsu re-measures the limit for each handoff scenario, so the paper stands on its own numbers.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2900000"/>
            <a:ext cx="932688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Evidence: age chain across a handoff (measured except the destination refresh term)  ·  Missing: per-scenario safe-age re-measurement (T12)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RQ3: how should a handoff work?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50000"/>
            <a:ext cx="109728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Cold start: does no state transfer violate the envelope?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Transfer at the boundary: is reactive migration early enough?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EdgeWarp timing: does radio-predicted migration give the predictor time to warm?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Overlap: can both locale services simply run in an overlap region?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Continuous replication: can we mirror everything and avoid predictive handoff?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Khonsu: does forecast-driven prepare, final update, and ownership transfer preserve the envelope efficiently?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Oracle: what is the upper bound?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All seven are alternative designs for cross-locale continuity, measured as arms of one experiment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Khonsu 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50000"/>
            <a:ext cx="109728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The predictor already forecasts each actor; a forecast that crosses the boundary names the actor, destination, and arrival time.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Prepare moves the temporal track state early; the track is warm but unpublished.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A final update at commit closes the gap while the source keeps observing.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Every forecast carries an ownership epoch; planners accept only the highest, so one owner is consumed.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If the state cannot be imported safely, the track is marked cold and the planner falls back.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Lead time is computed from the age chain: transfer EMA + destination fold-in + margin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RQ3: evidence so far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D6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Provisional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50000"/>
            <a:ext cx="109728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Handoff microbenchmark: history beats one frame by a factor of 2.8 to 9.3 (Done).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Acceleration closed loop: snapshot 4/4 collide, history 3/4 clean (Done).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Ownership protocol: 8 fault scenarios, one publishable epoch at every step (Done).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Lead-time sweep: more lead, more completions up to 4 s, on an unvalidated geometry (Provisional, v3 running).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2900000"/>
            <a:ext cx="8305556" cy="325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Missing: computed trigger vs fixed leads on the corrected scenario; live fault arms with the epoch check on and off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Overlap: how much is enough, what does it cost?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D6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Provisional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50000"/>
            <a:ext cx="109728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Sensing overlap only: both locales see the boundary, but the state must still move.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Compute overlap (make-before-break): geometric prefetching, compared directly against forecast triggering.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Dual authority: two forecasts for the same actor need a conflict-resolution rule.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First sweep: replication doubled bytes and changed nothing (Provisional).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2900000"/>
            <a:ext cx="7680960" cy="28386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Evidence: band and mirroring arms (Provisional)  ·  Missing: dual-authority arm; overlap width sweep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RQ4: what happens across an actual corridor?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Needed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00000"/>
            <a:ext cx="109728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Four locales, three boundaries, one ego driving the whole corridor.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Conflicts at intersection centers and, deliberately, between them.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0000" y="2300000"/>
            <a:ext cx="2600000" cy="2600000"/>
          </a:xfrm>
          <a:prstGeom prst="rect">
            <a:avLst/>
          </a:prstGeom>
          <a:solidFill>
            <a:srgbClr val="E1E8F5"/>
          </a:solidFill>
          <a:ln w="15875">
            <a:solidFill>
              <a:srgbClr val="1B3A6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0000" y="2330000"/>
            <a:ext cx="15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B3A6B"/>
                </a:solidFill>
              </a:rPr>
              <a:t>Locale A</a:t>
            </a:r>
          </a:p>
        </p:txBody>
      </p:sp>
      <p:sp>
        <p:nvSpPr>
          <p:cNvPr id="8" name="Rectangle 7"/>
          <p:cNvSpPr/>
          <p:nvPr/>
        </p:nvSpPr>
        <p:spPr>
          <a:xfrm>
            <a:off x="1700000" y="2650000"/>
            <a:ext cx="400000" cy="3800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RSU</a:t>
            </a:r>
          </a:p>
        </p:txBody>
      </p:sp>
      <p:sp>
        <p:nvSpPr>
          <p:cNvPr id="9" name="Rectangle 8"/>
          <p:cNvSpPr/>
          <p:nvPr/>
        </p:nvSpPr>
        <p:spPr>
          <a:xfrm>
            <a:off x="1750000" y="3200000"/>
            <a:ext cx="300000" cy="1500000"/>
          </a:xfrm>
          <a:prstGeom prst="rect">
            <a:avLst/>
          </a:prstGeom>
          <a:solidFill>
            <a:srgbClr val="D7D7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50000" y="2300000"/>
            <a:ext cx="2600000" cy="2600000"/>
          </a:xfrm>
          <a:prstGeom prst="rect">
            <a:avLst/>
          </a:prstGeom>
          <a:solidFill>
            <a:srgbClr val="FCECD6"/>
          </a:solidFill>
          <a:ln w="15875">
            <a:solidFill>
              <a:srgbClr val="CC781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0000" y="2330000"/>
            <a:ext cx="15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CC7814"/>
                </a:solidFill>
              </a:rPr>
              <a:t>Locale 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50000" y="2650000"/>
            <a:ext cx="400000" cy="3800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RSU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00000" y="3200000"/>
            <a:ext cx="300000" cy="1500000"/>
          </a:xfrm>
          <a:prstGeom prst="rect">
            <a:avLst/>
          </a:prstGeom>
          <a:solidFill>
            <a:srgbClr val="D7D7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00000" y="2300000"/>
            <a:ext cx="2600000" cy="2600000"/>
          </a:xfrm>
          <a:prstGeom prst="rect">
            <a:avLst/>
          </a:prstGeom>
          <a:solidFill>
            <a:srgbClr val="E1E8F5"/>
          </a:solidFill>
          <a:ln w="15875">
            <a:solidFill>
              <a:srgbClr val="1B3A6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60000" y="2330000"/>
            <a:ext cx="15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B3A6B"/>
                </a:solidFill>
              </a:rPr>
              <a:t>Locale 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00000" y="2650000"/>
            <a:ext cx="400000" cy="3800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RSU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50000" y="3200000"/>
            <a:ext cx="300000" cy="1500000"/>
          </a:xfrm>
          <a:prstGeom prst="rect">
            <a:avLst/>
          </a:prstGeom>
          <a:solidFill>
            <a:srgbClr val="D7D7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850000" y="2300000"/>
            <a:ext cx="2600000" cy="2600000"/>
          </a:xfrm>
          <a:prstGeom prst="rect">
            <a:avLst/>
          </a:prstGeom>
          <a:solidFill>
            <a:srgbClr val="FCECD6"/>
          </a:solidFill>
          <a:ln w="15875">
            <a:solidFill>
              <a:srgbClr val="CC781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0000" y="2330000"/>
            <a:ext cx="15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CC7814"/>
                </a:solidFill>
              </a:rPr>
              <a:t>Locale 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50000" y="2650000"/>
            <a:ext cx="400000" cy="380000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RSU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00000" y="3200000"/>
            <a:ext cx="300000" cy="1500000"/>
          </a:xfrm>
          <a:prstGeom prst="rect">
            <a:avLst/>
          </a:prstGeom>
          <a:solidFill>
            <a:srgbClr val="D7D7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00000" y="3750000"/>
            <a:ext cx="10800000" cy="380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75000" y="2200000"/>
            <a:ext cx="20000" cy="280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25000" y="2200000"/>
            <a:ext cx="20000" cy="280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775000" y="2200000"/>
            <a:ext cx="20000" cy="280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600000" y="3800000"/>
            <a:ext cx="280000" cy="2800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50000" y="4150000"/>
            <a:ext cx="11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900" b="0">
                <a:solidFill>
                  <a:srgbClr val="C0392B"/>
                </a:solidFill>
              </a:rPr>
              <a:t>crossing path</a:t>
            </a:r>
          </a:p>
        </p:txBody>
      </p:sp>
      <p:sp>
        <p:nvSpPr>
          <p:cNvPr id="28" name="Oval 27"/>
          <p:cNvSpPr/>
          <p:nvPr/>
        </p:nvSpPr>
        <p:spPr>
          <a:xfrm>
            <a:off x="3450000" y="3800000"/>
            <a:ext cx="280000" cy="2800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00000" y="4150000"/>
            <a:ext cx="11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900" b="0">
                <a:solidFill>
                  <a:srgbClr val="C0392B"/>
                </a:solidFill>
              </a:rPr>
              <a:t>queue tail</a:t>
            </a:r>
          </a:p>
        </p:txBody>
      </p:sp>
      <p:sp>
        <p:nvSpPr>
          <p:cNvPr id="30" name="Oval 29"/>
          <p:cNvSpPr/>
          <p:nvPr/>
        </p:nvSpPr>
        <p:spPr>
          <a:xfrm>
            <a:off x="6200000" y="3800000"/>
            <a:ext cx="280000" cy="2800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50000" y="4150000"/>
            <a:ext cx="11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900" b="0">
                <a:solidFill>
                  <a:srgbClr val="C0392B"/>
                </a:solidFill>
              </a:rPr>
              <a:t>overtake</a:t>
            </a:r>
          </a:p>
        </p:txBody>
      </p:sp>
      <p:sp>
        <p:nvSpPr>
          <p:cNvPr id="32" name="Oval 31"/>
          <p:cNvSpPr/>
          <p:nvPr/>
        </p:nvSpPr>
        <p:spPr>
          <a:xfrm>
            <a:off x="9000000" y="3800000"/>
            <a:ext cx="280000" cy="2800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000" y="4150000"/>
            <a:ext cx="11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900" b="0">
                <a:solidFill>
                  <a:srgbClr val="C0392B"/>
                </a:solidFill>
              </a:rPr>
              <a:t>stopped vehicle</a:t>
            </a:r>
          </a:p>
        </p:txBody>
      </p:sp>
      <p:sp>
        <p:nvSpPr>
          <p:cNvPr id="34" name="Oval 33"/>
          <p:cNvSpPr/>
          <p:nvPr/>
        </p:nvSpPr>
        <p:spPr>
          <a:xfrm>
            <a:off x="7000000" y="3800000"/>
            <a:ext cx="280000" cy="2800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50000" y="4150000"/>
            <a:ext cx="11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900" b="0">
                <a:solidFill>
                  <a:srgbClr val="C0392B"/>
                </a:solidFill>
              </a:rPr>
              <a:t>crossing path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800000" y="4520000"/>
            <a:ext cx="10500000" cy="250000"/>
          </a:xfrm>
          <a:prstGeom prst="rightArrow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ego route: three handoffs, actors crossing independently, several at once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This is a cooperative-prediction service operating across a sequence of locales, not a two-server microbenchmark  ·  Missing: build (T13)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RQ4: multi-locale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Needed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50000"/>
            <a:ext cx="109728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Continuity: handoffs warm before use, post-handoff ADE and FDE, track resets, fallbacks per km.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Planner safety: age at use vs the scenario's safe-age limit, minimum TTC, collisions, hard and false braking, route completion.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System: migrations per second, concurrent migrations, bytes per second, import and first-refresh latency, per-locale utilization.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Repeated handoffs: every metric by crossing index, stale epochs, back-and-forth transitions.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The whole route under cold start, boundary transfer, EdgeWarp timing, overlap, replication, Khonsu, oracle.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The burst test (5-vehicle platoon) stays as the microbenchmark behind the concurrent-crossing part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Done, running, missing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150000"/>
          <a:ext cx="11094720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0"/>
                <a:gridCol w="2900000"/>
                <a:gridCol w="2300000"/>
                <a:gridCol w="2900000"/>
                <a:gridCol w="1194720"/>
              </a:tblGrid>
              <a:tr h="720000">
                <a:tc>
                  <a:txBody>
                    <a:bodyPr/>
                    <a:lstStyle/>
                    <a:p>
                      <a:r>
                        <a:rPr sz="1200" b="1"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Evidence in 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Running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Status</a:t>
                      </a:r>
                    </a:p>
                  </a:txBody>
                  <a:tcPr/>
                </a:tc>
              </a:tr>
              <a:tr h="720000">
                <a:tc>
                  <a:txBody>
                    <a:bodyPr/>
                    <a:lstStyle/>
                    <a:p>
                      <a:r>
                        <a:rPr sz="1200" b="0"/>
                        <a:t>RQ1 scale-out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canvas sweep; CARLA partition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sizing 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density-trace sizing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</a:rPr>
                        <a:t>Done</a:t>
                      </a:r>
                    </a:p>
                  </a:txBody>
                  <a:tcPr/>
                </a:tc>
              </a:tr>
              <a:tr h="720000">
                <a:tc>
                  <a:txBody>
                    <a:bodyPr/>
                    <a:lstStyle/>
                    <a:p>
                      <a:r>
                        <a:rPr sz="1200" b="0"/>
                        <a:t>RQ2 state continuity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microbench 2.8 to 9.3x; acceleration 4/4 vs 3/4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post-handoff minADE/minFDE (T9)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</a:rPr>
                        <a:t>Done</a:t>
                      </a:r>
                    </a:p>
                  </a:txBody>
                  <a:tcPr/>
                </a:tc>
              </a:tr>
              <a:tr h="720000">
                <a:tc>
                  <a:txBody>
                    <a:bodyPr/>
                    <a:lstStyle/>
                    <a:p>
                      <a:r>
                        <a:rPr sz="1200" b="0"/>
                        <a:t>RQ3 safe handoff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8-scenario ownership faults; age chain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v3 re-baseline; computed vs fixed lead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per-scenario safe-age limits (T12); live fault arms (T7); real transport (T8); dual-authority arm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65C0"/>
                          </a:solidFill>
                        </a:rPr>
                        <a:t>Running</a:t>
                      </a:r>
                    </a:p>
                  </a:txBody>
                  <a:tcPr/>
                </a:tc>
              </a:tr>
              <a:tr h="720000">
                <a:tc>
                  <a:txBody>
                    <a:bodyPr/>
                    <a:lstStyle/>
                    <a:p>
                      <a:r>
                        <a:rPr sz="1200" b="0"/>
                        <a:t>RQ4 multi-locale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harness, knobs, burst 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crossing-rate sweep (q5)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corridor scenario and route-level metrics (T13)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787878"/>
                          </a:solidFill>
                        </a:rPr>
                        <a:t>Needed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100000"/>
            <a:ext cx="109728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Provenance: the first two sweeps ran an unvalidated scenario geometry (found Sep 3); the fix is a runner default, and v3 is the re-baseline.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</a:rPr>
              <a:t>Timeline: NSDI'27 abstracts Sep 10, papers Sep 17. T13 is the largest open item; early warning if it cannot land by Sep 15.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Done = validated evidence in hand  ·  Provisional = measured on an unvalidated geometry  ·  Running = in the queue  ·  Needed = staged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