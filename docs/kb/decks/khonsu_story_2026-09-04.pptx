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20"/>
    <p:sldId id="265" r:id="rId11"/>
    <p:sldId id="266" r:id="rId12"/>
    <p:sldId id="267" r:id="rId13"/>
    <p:sldId id="270" r:id="rId21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5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openxmlformats.org/officeDocument/2006/relationships/slide" Target="slides/slide10.xml"/><Relationship Id="rId21" Type="http://schemas.openxmlformats.org/officeDocument/2006/relationships/slide" Target="slides/slide1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ndle, Tyler C" userId="e387bdf0-79bb-4121-b1af-e30ba9bc8ec6" providerId="ADAL" clId="{A35F9EBA-AAFD-4507-8C3F-4A09BB93CE15}"/>
    <pc:docChg chg="custSel modSld">
      <pc:chgData name="Landle, Tyler C" userId="e387bdf0-79bb-4121-b1af-e30ba9bc8ec6" providerId="ADAL" clId="{A35F9EBA-AAFD-4507-8C3F-4A09BB93CE15}" dt="2026-08-31T17:56:46.011" v="52" actId="1076"/>
      <pc:docMkLst>
        <pc:docMk/>
      </pc:docMkLst>
      <pc:sldChg chg="delSp modSp mod">
        <pc:chgData name="Landle, Tyler C" userId="e387bdf0-79bb-4121-b1af-e30ba9bc8ec6" providerId="ADAL" clId="{A35F9EBA-AAFD-4507-8C3F-4A09BB93CE15}" dt="2026-08-31T17:56:11.894" v="50" actId="478"/>
        <pc:sldMkLst>
          <pc:docMk/>
          <pc:sldMk cId="0" sldId="257"/>
        </pc:sldMkLst>
        <pc:spChg chg="mod">
          <ac:chgData name="Landle, Tyler C" userId="e387bdf0-79bb-4121-b1af-e30ba9bc8ec6" providerId="ADAL" clId="{A35F9EBA-AAFD-4507-8C3F-4A09BB93CE15}" dt="2026-08-31T17:55:59.422" v="49" actId="20577"/>
          <ac:spMkLst>
            <pc:docMk/>
            <pc:sldMk cId="0" sldId="257"/>
            <ac:spMk id="3" creationId="{00000000-0000-0000-0000-000000000000}"/>
          </ac:spMkLst>
        </pc:spChg>
        <pc:spChg chg="del">
          <ac:chgData name="Landle, Tyler C" userId="e387bdf0-79bb-4121-b1af-e30ba9bc8ec6" providerId="ADAL" clId="{A35F9EBA-AAFD-4507-8C3F-4A09BB93CE15}" dt="2026-08-31T17:56:11.894" v="50" actId="478"/>
          <ac:spMkLst>
            <pc:docMk/>
            <pc:sldMk cId="0" sldId="257"/>
            <ac:spMk id="4" creationId="{00000000-0000-0000-0000-000000000000}"/>
          </ac:spMkLst>
        </pc:spChg>
      </pc:sldChg>
      <pc:sldChg chg="modSp mod">
        <pc:chgData name="Landle, Tyler C" userId="e387bdf0-79bb-4121-b1af-e30ba9bc8ec6" providerId="ADAL" clId="{A35F9EBA-AAFD-4507-8C3F-4A09BB93CE15}" dt="2026-08-31T17:56:46.011" v="52" actId="1076"/>
        <pc:sldMkLst>
          <pc:docMk/>
          <pc:sldMk cId="0" sldId="259"/>
        </pc:sldMkLst>
        <pc:picChg chg="mod">
          <ac:chgData name="Landle, Tyler C" userId="e387bdf0-79bb-4121-b1af-e30ba9bc8ec6" providerId="ADAL" clId="{A35F9EBA-AAFD-4507-8C3F-4A09BB93CE15}" dt="2026-08-31T17:56:46.011" v="52" actId="1076"/>
          <ac:picMkLst>
            <pc:docMk/>
            <pc:sldMk cId="0" sldId="259"/>
            <ac:picMk id="5" creationId="{00000000-0000-0000-0000-000000000000}"/>
          </ac:picMkLst>
        </pc:pic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228600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B3A6B"/>
                </a:solidFill>
              </a:rPr>
              <a:t>Khonsu: the story, the evidence, the study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dirty="0">
                <a:solidFill>
                  <a:srgbClr val="212121"/>
                </a:solidFill>
              </a:rPr>
              <a:t>Continuity for edge-hosted cooperative prediction across locale boundaries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56032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3A6B"/>
                </a:solidFill>
              </a:rPr>
              <a:t>What we want to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 dirty="0">
                <a:solidFill>
                  <a:srgbClr val="B3A369"/>
                </a:solidFill>
              </a:rPr>
              <a:t>SQ1  </a:t>
            </a:r>
            <a:r>
              <a:rPr sz="1800" dirty="0">
                <a:solidFill>
                  <a:srgbClr val="212121"/>
                </a:solidFill>
              </a:rPr>
              <a:t>How large can one locale be before the edge GPU misses </a:t>
            </a:r>
            <a:r>
              <a:rPr lang="en-US" sz="1800" dirty="0">
                <a:solidFill>
                  <a:srgbClr val="212121"/>
                </a:solidFill>
              </a:rPr>
              <a:t>a</a:t>
            </a:r>
            <a:r>
              <a:rPr sz="1800" dirty="0">
                <a:solidFill>
                  <a:srgbClr val="212121"/>
                </a:solidFill>
              </a:rPr>
              <a:t> deadline, </a:t>
            </a:r>
            <a:r>
              <a:rPr lang="en-US" sz="1800" dirty="0">
                <a:solidFill>
                  <a:srgbClr val="212121"/>
                </a:solidFill>
              </a:rPr>
              <a:t>and how do we solve </a:t>
            </a:r>
            <a:r>
              <a:rPr sz="1800" dirty="0">
                <a:solidFill>
                  <a:srgbClr val="212121"/>
                </a:solidFill>
              </a:rPr>
              <a:t>metropolitan deployment?</a:t>
            </a:r>
          </a:p>
          <a:p>
            <a:pPr>
              <a:spcAft>
                <a:spcPts val="1400"/>
              </a:spcAft>
            </a:pPr>
            <a:r>
              <a:rPr sz="1800" b="1" dirty="0">
                <a:solidFill>
                  <a:srgbClr val="B3A369"/>
                </a:solidFill>
              </a:rPr>
              <a:t>SQ2  </a:t>
            </a:r>
            <a:r>
              <a:rPr sz="1800" dirty="0">
                <a:solidFill>
                  <a:srgbClr val="212121"/>
                </a:solidFill>
              </a:rPr>
              <a:t>What tracker does the service need under realistic vehicle motion, and what does a Kalman filter miss?</a:t>
            </a:r>
          </a:p>
          <a:p>
            <a:pPr>
              <a:spcAft>
                <a:spcPts val="1400"/>
              </a:spcAft>
            </a:pPr>
            <a:r>
              <a:rPr sz="1800" b="1" dirty="0">
                <a:solidFill>
                  <a:srgbClr val="B3A369"/>
                </a:solidFill>
              </a:rPr>
              <a:t>SQ3  </a:t>
            </a:r>
            <a:r>
              <a:rPr sz="1800" dirty="0">
                <a:solidFill>
                  <a:srgbClr val="212121"/>
                </a:solidFill>
              </a:rPr>
              <a:t>Where do conflicts happen relative to locale boundaries, and </a:t>
            </a:r>
            <a:r>
              <a:rPr lang="en-US" sz="1800" dirty="0">
                <a:solidFill>
                  <a:srgbClr val="212121"/>
                </a:solidFill>
              </a:rPr>
              <a:t>where</a:t>
            </a:r>
            <a:r>
              <a:rPr sz="1800" dirty="0">
                <a:solidFill>
                  <a:srgbClr val="212121"/>
                </a:solidFill>
              </a:rPr>
              <a:t> do existing transfer baselines </a:t>
            </a:r>
            <a:r>
              <a:rPr lang="en-US" sz="1800" dirty="0">
                <a:solidFill>
                  <a:srgbClr val="212121"/>
                </a:solidFill>
              </a:rPr>
              <a:t>succeed and fail</a:t>
            </a:r>
            <a:r>
              <a:rPr sz="1800" dirty="0">
                <a:solidFill>
                  <a:srgbClr val="212121"/>
                </a:solidFill>
              </a:rPr>
              <a:t>?</a:t>
            </a:r>
          </a:p>
          <a:p>
            <a:pPr>
              <a:spcAft>
                <a:spcPts val="1400"/>
              </a:spcAft>
            </a:pPr>
            <a:r>
              <a:rPr sz="1800" b="1" dirty="0">
                <a:solidFill>
                  <a:srgbClr val="B3A369"/>
                </a:solidFill>
              </a:rPr>
              <a:t>SQ4  </a:t>
            </a:r>
            <a:r>
              <a:rPr sz="1800" dirty="0">
                <a:solidFill>
                  <a:srgbClr val="212121"/>
                </a:solidFill>
              </a:rPr>
              <a:t>Can the measured safety envelope (220-450 </a:t>
            </a:r>
            <a:r>
              <a:rPr sz="1800" dirty="0" err="1">
                <a:solidFill>
                  <a:srgbClr val="212121"/>
                </a:solidFill>
              </a:rPr>
              <a:t>ms</a:t>
            </a:r>
            <a:r>
              <a:rPr sz="1800" dirty="0">
                <a:solidFill>
                  <a:srgbClr val="212121"/>
                </a:solidFill>
              </a:rPr>
              <a:t> per maneuver) hold through an ownership handoff, and with which mechanism?</a:t>
            </a:r>
          </a:p>
          <a:p>
            <a:pPr>
              <a:spcAft>
                <a:spcPts val="1400"/>
              </a:spcAft>
            </a:pPr>
            <a:r>
              <a:rPr sz="1800" b="1" dirty="0">
                <a:solidFill>
                  <a:srgbClr val="B3A369"/>
                </a:solidFill>
              </a:rPr>
              <a:t>SQ5  </a:t>
            </a:r>
            <a:r>
              <a:rPr sz="1800" dirty="0">
                <a:solidFill>
                  <a:srgbClr val="212121"/>
                </a:solidFill>
              </a:rPr>
              <a:t>Which design knobs govern the handoff, and over what crossing load does the guarantee remain feasible?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56032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3A6B"/>
                </a:solidFill>
              </a:rPr>
              <a:t>One locale cannot cover a city: the deadline caps the canvas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92608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B3A369"/>
                </a:solidFill>
              </a:rPr>
              <a:t>SQ1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dirty="0">
                <a:solidFill>
                  <a:srgbClr val="212121"/>
                </a:solidFill>
              </a:rPr>
              <a:t>• Fusion runs attention over the BEV grid, so its cost grows with canvas area: doubling the side roughly quadruples latency (measured).</a:t>
            </a:r>
          </a:p>
          <a:p>
            <a:pPr>
              <a:spcAft>
                <a:spcPts val="500"/>
              </a:spcAft>
            </a:pPr>
            <a:r>
              <a:rPr sz="1400" dirty="0">
                <a:solidFill>
                  <a:srgbClr val="212121"/>
                </a:solidFill>
              </a:rPr>
              <a:t>• At 8 contributors the fusion stage alone crosses the 130 </a:t>
            </a:r>
            <a:r>
              <a:rPr sz="1400" dirty="0" err="1">
                <a:solidFill>
                  <a:srgbClr val="212121"/>
                </a:solidFill>
              </a:rPr>
              <a:t>ms</a:t>
            </a:r>
            <a:r>
              <a:rPr sz="1400" dirty="0">
                <a:solidFill>
                  <a:srgbClr val="212121"/>
                </a:solidFill>
              </a:rPr>
              <a:t> edge compute SLO between 282 m and 400 m of canvas. Tracking and prediction share the same SLO, so the practical cap is near 300 m.</a:t>
            </a:r>
          </a:p>
          <a:p>
            <a:pPr>
              <a:spcAft>
                <a:spcPts val="500"/>
              </a:spcAft>
            </a:pPr>
            <a:r>
              <a:rPr sz="1400" dirty="0">
                <a:solidFill>
                  <a:srgbClr val="212121"/>
                </a:solidFill>
              </a:rPr>
              <a:t>• Memory is not the binding constraint (6.8 GB peak at 563 m on a 16 GB GPU). The deadline binds first.</a:t>
            </a:r>
          </a:p>
          <a:p>
            <a:pPr>
              <a:spcAft>
                <a:spcPts val="500"/>
              </a:spcAft>
            </a:pPr>
            <a:r>
              <a:rPr sz="1400" dirty="0">
                <a:solidFill>
                  <a:srgbClr val="212121"/>
                </a:solidFill>
              </a:rPr>
              <a:t>• The cap is specific to our fusion architecture and edge tier. What the argument needs is that every implementation has one; the particular number is ours.</a:t>
            </a:r>
          </a:p>
        </p:txBody>
      </p:sp>
      <p:pic>
        <p:nvPicPr>
          <p:cNvPr id="5" name="Picture 4" descr="fig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2697480"/>
            <a:ext cx="8412480" cy="373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B3A369"/>
                </a:solidFill>
              </a:rPr>
              <a:t>Ties to the study: SQ1 measured: fusion latency vs canvas side at fixed contributors, on the edge GPU (canvas_latency.csv, 2026-08-31).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56032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3A6B"/>
                </a:solidFill>
              </a:rPr>
              <a:t>Consequence: many locales, boundaries every few hundred 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92608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B3A369"/>
                </a:solidFill>
              </a:rPr>
              <a:t>SQ1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</a:rPr>
              <a:t>• A metropolitan deployment therefore partitions into locales of roughly 300 m, each with its own edge service.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</a:rPr>
              <a:t>• Partitioning a CARLA town by conflict anchors shows the boundary geometry this forces: boundary-to-conflict separations cluster well below what cold recovery needs at arterial speeds.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</a:rPr>
              <a:t>• At 14 m/s a vehicle crosses a boundary roughly every 20 to 30 s of driving. Continuity is a steady-state event, not a corner case.</a:t>
            </a:r>
          </a:p>
        </p:txBody>
      </p:sp>
      <p:pic>
        <p:nvPicPr>
          <p:cNvPr id="5" name="Picture 4" descr="paper_parti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135192"/>
            <a:ext cx="5120640" cy="4585648"/>
          </a:xfrm>
          <a:prstGeom prst="rect">
            <a:avLst/>
          </a:prstGeom>
        </p:spPr>
      </p:pic>
      <p:pic>
        <p:nvPicPr>
          <p:cNvPr id="6" name="Picture 5" descr="paper_sepa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560320"/>
            <a:ext cx="5120640" cy="35156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B3A369"/>
                </a:solidFill>
              </a:rPr>
              <a:t>Ties to the study: SQ1: the partition study (Q7 data) turns the canvas cap into measured boundary geometry.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56032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3A6B"/>
                </a:solidFill>
              </a:rPr>
              <a:t>Vehicle tracking under real motion needs temporal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92608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B3A369"/>
                </a:solidFill>
              </a:rPr>
              <a:t>SQ2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</a:rPr>
              <a:t>• Approach motion is non-constant (braking, acceleration, turning, lane changes); a constant-velocity Kalman tracker loses accuracy exactly there. Literature: Singer (1970), IMM (Blom and Bar-Shalom, 1988).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</a:rPr>
              <a:t>• Every remedy carries temporal context. Our pipeline uses a 3D adaptation of MambaTrack; for the maneuvering workloads we study it beats the constant-velocity baseline. No claim that SSMs are necessary in general.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</a:rPr>
              <a:t>• Scoped claim: first integration of a state-space 3D multi-object tracker into a distributed cooperative-prediction pipeline; prior SSM trackers (MambaTrack, TrackSSM, S3MOT, D3SSTrack, MambaTrack3D) are standalone benchmark models.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</a:rPr>
              <a:t>• Measured (chart): after a forced handoff, one frame is indistinguishable from cold start; the observation history cuts error 2.8 to 9.3x. The migrated state is explicit history plus bookkeeping (about 1.3 KB), not a hidden state.</a:t>
            </a:r>
          </a:p>
        </p:txBody>
      </p:sp>
      <p:pic>
        <p:nvPicPr>
          <p:cNvPr id="5" name="Picture 4" descr="fig_bk_re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3154680"/>
            <a:ext cx="6583680" cy="41222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B3A369"/>
                </a:solidFill>
              </a:rPr>
              <a:t>Ties to the study: SQ2: the tracker earns its accuracy from history; preserving that history across the boundary is what retains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56032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3A6B"/>
                </a:solidFill>
              </a:rPr>
              <a:t>The snapshot completes by colliding 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92608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B3A369"/>
                </a:solidFill>
              </a:rPr>
              <a:t>SQ2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</a:rPr>
              <a:t>• Accelerating oncoming actor, closed loop: the Kalman snapshot arm finishes its runs but collides in every one (1 to 2 episodes per run). The context arm runs clean.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</a:rPr>
              <a:t>• The predictor behind a snapshot sees one frame, assumes constant velocity, and misplaces the conflict point by meters at the 5 s horizon. The 25 cm instantaneous error is the trace, not the harm.</a:t>
            </a:r>
          </a:p>
        </p:txBody>
      </p:sp>
      <p:pic>
        <p:nvPicPr>
          <p:cNvPr id="5" name="Picture 4" descr="fig_payload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2468880"/>
            <a:ext cx="8778240" cy="33395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B3A369"/>
                </a:solidFill>
              </a:rPr>
              <a:t>Ties to the study: SQ2 closed loop: clean completion and collision episodes per arm, accelerating-actor scenario, 4 seeds.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56032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3A6B"/>
                </a:solidFill>
              </a:rPr>
              <a:t>Conflicts concentrate at junctions and happen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92608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B3A369"/>
                </a:solidFill>
              </a:rPr>
              <a:t>SQ3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</a:rPr>
              <a:t>• NHTSA's pre-crash typology puts crossing-path and turning conflicts among the most frequent crash classes, which is why locales anchor to junctions.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</a:rPr>
              <a:t>• The same typology carries rear-end, lane-change, and stopped-vehicle classes that occur on ordinary segments: traffic makes conflict geometry, placement does not.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</a:rPr>
              <a:t>• With locales capped near 300 m, whatever boundary placement chooses, queue tails, stopped vehicles, and work zones can straddle it. The 08-22 commit-gate incident is our own measured example: absence of a forecast read as clear road at a boundary.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</a:rPr>
              <a:t>• Placement is granted its best case in our scenarios: fixed conflict zones sit inside locales, and the failures below still occur on the segments between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B3A369"/>
                </a:solidFill>
              </a:rPr>
              <a:t>Ties to the study: SQ3: motivates evaluating crossings on approach segments rather than engineered corner cases.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56032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3A6B"/>
                </a:solidFill>
              </a:rPr>
              <a:t>What existing transfer baselines lose at the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92608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B3A369"/>
                </a:solidFill>
              </a:rPr>
              <a:t>SQ3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</a:rPr>
              <a:t>• Transfer at the crossing (EdgeWarp timing) strands the maneuver: the destination has no time to fold the track into its cycle before the decision.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</a:rPr>
              <a:t>• In the first uniform sweep, completions rose with transfer lead up to about 4 s, and the lead was spent on destination-side warm-up, not the wire (payload about 1 KB, tens of milliseconds).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</a:rPr>
              <a:t>• PROVISIONAL: that sweep ran an unvalidated scenario geometry (the harness never set the scenario env contract; found Sep 3). The corrected re-baseline (v3) is running; relative orderings are re-measured before they are cited.</a:t>
            </a:r>
          </a:p>
        </p:txBody>
      </p:sp>
      <p:pic>
        <p:nvPicPr>
          <p:cNvPr id="5" name="Picture 4" descr="fig_lead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2240280"/>
            <a:ext cx="8778240" cy="34349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B3A369"/>
                </a:solidFill>
              </a:rPr>
              <a:t>Ties to the study: SQ3/SQ4: the lead-time curve is re-baselined on the corrected scenario before any number is cited.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56032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3A6B"/>
                </a:solidFill>
              </a:rPr>
              <a:t>The safety envelope must hold through the handoff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92608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B3A369"/>
                </a:solidFill>
              </a:rPr>
              <a:t>SQ4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</a:rPr>
              <a:t>• Freshness in four timestamps: observation t_o, snapshot t_s, forecast t_f, consumption t_c. Age at use is t_c - t_o. Invariant: t_c - t_o &lt;= tau(u), the maneuver budget (220 to 450 ms), through the ownership switch.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</a:rPr>
              <a:t>• Across the switch the age is: time since the last source observation + transfer + import and association + the destination's first refresh. The refresh term depends on load, so the lead is computed: transfer EMA + 3 edge cycles (0.6 s) + 0.35 s, capped at 2.5 s.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</a:rPr>
              <a:t>• Delivery is prepare + a final update at commit (the copy ages while the source keeps observing; the update closes the gap for about 1 KB). Authority moves with an epoch-fenced commit: consumers act only on the highest epoch, so single-writer holds under message loss.</a:t>
            </a:r>
          </a:p>
        </p:txBody>
      </p:sp>
      <p:pic>
        <p:nvPicPr>
          <p:cNvPr id="5" name="Picture 4" descr="fig_budget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3063240"/>
            <a:ext cx="9326880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B3A369"/>
                </a:solidFill>
              </a:rPr>
              <a:t>Ties to the study: SQ4: the freshness invariant is the object under study; prepare, final update, and epoch-fenced commit are the mechanism that keeps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92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Protocol correctness: epochs under message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926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SQ4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</a:rPr>
              <a:t>• Claim: exactly one server's forecasts are acted on for each track at any time. The failure model admits lost acknowledgements, so two servers can transiently both publish; the claim must hold at the consumer, not by assumption on the network.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</a:rPr>
              <a:t>• Mechanism: a per-track epoch increases at every prepare; every published forecast carries (actor, epoch); consumers act only on the highest epoch seen. Fault model: message loss, delay, reordering; destination failure during a handoff; source failure and partition handled by expiry plus the planner's fallback.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</a:rPr>
              <a:t>• Verified in isolation: the ownership state machine (prepared / committed / aborted, idempotent retries) driven through eight scenarios: clean handoff, lost ack + duplicate prepare, lost ack + duplicate commit, stale payload, wrong destination, abort after prepare, both sides hold, commit without prepare. Exactly one publishable epoch at every step in all eight.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</a:rPr>
              <a:t>• Next: the same injections on the live path, six fault arms with fencing on and off, reporting the double-publish window in ticks and the fallback rate.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B3A369"/>
                </a:solidFill>
              </a:rPr>
              <a:t>Ties to the study: SQ4: the invariant a reviewer will attack first, stated with its fault model and its verification.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56032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3A6B"/>
                </a:solidFill>
              </a:rPr>
              <a:t>Why migrate rather than overlap: predictions need one publisher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92608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B3A369"/>
                </a:solidFill>
              </a:rPr>
              <a:t>SQ4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</a:rPr>
              <a:t>• Coverage overlap is required and assumed. Every boundary scheme still answers two questions: when the destination gets the state (delivery) and when it becomes the single publisher (authority).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</a:rPr>
              <a:t>• Overlap-triggered migration is migration with a geometric trigger; its lead shrinks with speed and it fires on proximity. Replication answers only delivery at a higher rate; in the first sweep redundant sends doubled bytes and changed nothing (provisional until v3), and its cost scales with boundary traffic, not crossings.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12121"/>
                </a:solidFill>
              </a:rPr>
              <a:t>• Keeping both services authoritative makes two predictors publish diverging forecasts for the same actor. That recreates the multi-source disagreement failure the safety-envelope work measured as dominant, at the forecast level, where no merge point exists to repair it. Prediction is why overlap cannot substitute.</a:t>
            </a:r>
          </a:p>
        </p:txBody>
      </p:sp>
      <p:pic>
        <p:nvPicPr>
          <p:cNvPr id="5" name="Picture 4" descr="fig_ph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3108960"/>
            <a:ext cx="7680960" cy="2838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B3A369"/>
                </a:solidFill>
              </a:rPr>
              <a:t>Ties to the study: SQ4: the mirroring and refresh arms are the measured half; the dual-authority arm completes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56032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3A6B"/>
                </a:solidFill>
              </a:rPr>
              <a:t>The knobs the study 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92608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B3A369"/>
                </a:solidFill>
              </a:rPr>
              <a:t>SQ5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34440"/>
          <a:ext cx="106984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Knob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Range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Question it answers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Trigger lead (computed vs fixed 1-4 s)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LOOKAHEAD_S / band width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latest safe trigger under load (SQ4)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Payload (context vs snapshot vs one frame)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history depth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what must move (SQ2)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Commit refresh and mirroring rate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none / full / 0.25-2 s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delivery redundancy value (SQ4)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Crossing burst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1-8 simultaneous tracks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destination admission under bursts (SQ5)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Boundary position along the approach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25 m sweep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how close a boundary may sit to a conflict (SQ3)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Backhaul impairment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latency / jitter /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feasible region edges (SQ5)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Density and crossing rate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4-32 agents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schedulable region and placement rule (SQ5)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Ownership epochs and fault injection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6 fault arms, fencing on/off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single writer under message loss (SQ4)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Transport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parametric vs real gRPC + netem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prepare/update/import/commit latency (SQ5)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Cross-locale association (unconnected actors)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GT vs gated, pose error 0-2 m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identity continuity at the boundary (SQ5)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B3A369"/>
                </a:solidFill>
              </a:rPr>
              <a:t>Ties to the study: SQ5: the ownership layer is done (8-scenario fault microeval passes); real transport, association, and the V2X-Seq trigger study are staged on the eval side.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56032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3A6B"/>
                </a:solidFill>
              </a:rPr>
              <a:t>Scoping the paper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12121"/>
                </a:solidFill>
              </a:rPr>
              <a:t>• In: the freshness invariant through the ownership switch and its measurement; the forecast-driven trigger with computed lead; prepare, final update, epoch-fenced commit, and explicit fallback; per-track temporal state for two tracker backends; the alternatives as arms (cold, Kalman snapshot, generic snapshot at handover, keyed migration, replication, overlap, oracle); the locale-size bound for our architecture as a case study.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12121"/>
                </a:solidFill>
              </a:rPr>
              <a:t>• Out (stated as future work or limitation): communication scheduling across PC5/Uu; cross-model state translation; cross-locale association for unconnected actors unless it lands; field deployment.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12121"/>
                </a:solidFill>
              </a:rPr>
              <a:t>• Paper form: intro, motivation and system model, design, implementation, evaluation with result-first subsections, related work, limitations. 13 pages with references before results land. NSDI'27 fall: abstracts Sep 10, papers Sep 17.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B3A369"/>
                </a:solidFill>
              </a:rPr>
              <a:t>Ties to the study: the paper's spine is SQ4 and SQ5; SQ1 through SQ3 are its motivation sections.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92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Evaluation status: provenance and re-baseline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2926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SQ5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</a:rPr>
              <a:t>• Found Sep 3: the sweep harness never set the scenario env contract (oncoming 12 m/s, actor trigger 300 m) that every validated run carried. Bare invocations ran an unvalidated geometry that wedges the ego at the truck; the '30 contact ticks' figure was the sensor's 30-event buffer cap. Controlled pair, same code: bare env 1 episode / 762 raw contacts / no completion; contract env 0 / 0 / completes.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</a:rPr>
              <a:t>• Consequence: the v2 sweep is discarded; v1 relative findings (lead-time curve, band over-firing, mirroring null) are provisional until re-measured; the August 'canonical table irreproducible' verdict was the same artifact and is being re-checked with the contract set.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</a:rPr>
              <a:t>• Fix: the contract is now runner defaults, so any invocation runs the validated scenario. Frozen traffic lights stay (a real nondeterminism source, not the cause).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12121"/>
                </a:solidFill>
              </a:rPr>
              <a:t>• Queue: v3 re-baseline (6 arms x 10 + 15 burst) running; then the crossing-rate sweep, the lookahead redo, and the canonical reproduction check. Absolute rates stay embargoed until v3 lands clean.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B3A369"/>
                </a:solidFill>
              </a:rPr>
              <a:t>Ties to the study: SQ5: no number in the paper cites v1 or v2 absolutes; the evaluation text is written to the corrected scenario.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56032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3A6B"/>
                </a:solidFill>
              </a:rPr>
              <a:t>Question to evidence map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34440"/>
          <a:ext cx="106984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Question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Evidence, today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Evidence, to run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SQ1 locale size cap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canvas sweep: fusion crosses 130 ms between 282 and 400 m at 8 contributors; scoped to our architecture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sizing study on measured density traces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SQ2 tracker requirement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microbench 2.8-9.3x; Kalman snapshot 4/4 collided under acceleration, history 3/4 clean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post-handoff minADE/minFDE (T9)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SQ3 boundary losses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v1 lead-time curve and over-firing: PROVISIONAL (unvalidated geometry)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v3 re-baseline (running); boundary-position sweep; V2X-Seq trigger study (T11)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SQ4 envelope across handoff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8-scenario ownership fault microeval passes; refresh and mirror null results provisional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live fault arms with fencing on/off (T7); computed trigger vs fixed leads (v3)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SQ5 feasible region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harness and knobs; v2 sweep discarded (missing env contract)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</a:rPr>
                        <a:t>burst and crossing-rate sweep (q5); real transport (T8); association (T10)</a:t>
                      </a:r>
                    </a:p>
                  </a:txBody>
                  <a:tcPr>
                    <a:solidFill>
                      <a:srgbClr val="EF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1637</Words>
  <Application>Microsoft Office PowerPoint</Application>
  <PresentationFormat>Widescreen</PresentationFormat>
  <Paragraphs>107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Landle, Tyler C</cp:lastModifiedBy>
  <cp:revision>1</cp:revision>
  <dcterms:created xsi:type="dcterms:W3CDTF">2013-01-27T09:14:16Z</dcterms:created>
  <dcterms:modified xsi:type="dcterms:W3CDTF">2026-08-31T17:56:56Z</dcterms:modified>
  <cp:category/>
</cp:coreProperties>
</file>